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011680"/>
            <a:ext cx="2926080" cy="30800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389120" y="1645920"/>
            <a:ext cx="7132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8FAFC"/>
                </a:solidFill>
              </a:defRPr>
            </a:pPr>
            <a:r>
              <a:t>NOTION TRACKER</a:t>
            </a:r>
          </a:p>
          <a:p>
            <a:pPr>
              <a:spcBef>
                <a:spcPts val="1000"/>
              </a:spcBef>
              <a:defRPr sz="2200">
                <a:solidFill>
                  <a:srgbClr val="6366F1"/>
                </a:solidFill>
              </a:defRPr>
            </a:pPr>
            <a:r>
              <a:t>Zero-Trust Human-In-The-Loop Enterprise Automation Platform</a:t>
            </a:r>
          </a:p>
          <a:p>
            <a:pPr>
              <a:spcBef>
                <a:spcPts val="1400"/>
              </a:spcBef>
              <a:defRPr sz="1600">
                <a:solidFill>
                  <a:srgbClr val="10B981"/>
                </a:solidFill>
              </a:defRPr>
            </a:pPr>
            <a:r>
              <a:t>Built for Enterprise MNCs | 100% Passes 'The Turn-Off Test'</a:t>
            </a:r>
          </a:p>
          <a:p>
            <a:pPr>
              <a:spcBef>
                <a:spcPts val="2400"/>
              </a:spcBef>
              <a:defRPr sz="1300">
                <a:solidFill>
                  <a:srgbClr val="94A3B8"/>
                </a:solidFill>
              </a:defRPr>
            </a:pPr>
            <a:r>
              <a:t>Presenter: Aryan Sharma (Lead Architect) &amp; Atul Yadav (QA Lead) | AI Experts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8FAFC"/>
                </a:solidFill>
              </a:defRPr>
            </a:pPr>
            <a:r>
              <a:t>The Problem: The Fragility of Modern Automations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3291840" cy="38404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F59E0B"/>
                </a:solidFill>
              </a:defRPr>
            </a:pPr>
            <a:r>
              <a:t>🚨 Webhook Floods &amp; Race Conditions</a:t>
            </a:r>
          </a:p>
          <a:p>
            <a:pPr>
              <a:spcBef>
                <a:spcPts val="1400"/>
              </a:spcBef>
              <a:defRPr sz="1400">
                <a:solidFill>
                  <a:srgbClr val="94A3B8"/>
                </a:solidFill>
              </a:defRPr>
            </a:pPr>
            <a:r>
              <a:t>External services spam API calls, triggering silent 429 rate limit bans, data overwrites, and uncoordinated state corruption.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0" y="2011680"/>
            <a:ext cx="3291840" cy="38404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A855F7"/>
                </a:solidFill>
              </a:defRPr>
            </a:pPr>
            <a:r>
              <a:t>💥 Server Downtime = Total Blindness</a:t>
            </a:r>
          </a:p>
          <a:p>
            <a:pPr>
              <a:spcBef>
                <a:spcPts val="1400"/>
              </a:spcBef>
              <a:defRPr sz="1400">
                <a:solidFill>
                  <a:srgbClr val="94A3B8"/>
                </a:solidFill>
              </a:defRPr>
            </a:pPr>
            <a:r>
              <a:t>When custom React dashboards go offline, non-technical managers lose all operational visibility. State is trapped inside black-box servers.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2011680"/>
            <a:ext cx="3291840" cy="38404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38BDF8"/>
                </a:solidFill>
              </a:defRPr>
            </a:pPr>
            <a:r>
              <a:t>🔓 High-Risk Accidental Dispatches</a:t>
            </a:r>
          </a:p>
          <a:p>
            <a:pPr>
              <a:spcBef>
                <a:spcPts val="1400"/>
              </a:spcBef>
              <a:defRPr sz="1400">
                <a:solidFill>
                  <a:srgbClr val="94A3B8"/>
                </a:solidFill>
              </a:defRPr>
            </a:pPr>
            <a:r>
              <a:t>Autonomous AI agents making un-audited decisions without non-repudiation cryptographic proof or physical biometric checks.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8FAFC"/>
                </a:solidFill>
              </a:defRPr>
            </a:pPr>
            <a:r>
              <a:t>The Winning Notion Pivot: Let Notion Do the Work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5029200" cy="1920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38BDF8"/>
                </a:solidFill>
              </a:defRPr>
            </a:pPr>
            <a:r>
              <a:t>🌟 Zero-Cost Native Accessibility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</a:defRPr>
            </a:pPr>
            <a:r>
              <a:t>Inherits Notion's multi-billion dollar infrastructure: native dark/light mode, ARIA screen-reader compliance, keyboard navigation, and global i18n out-of-the-box.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2011680"/>
            <a:ext cx="5029200" cy="1920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38BDF8"/>
                </a:solidFill>
              </a:defRPr>
            </a:pPr>
            <a:r>
              <a:t>🎛️ Drag-and-Drop Command Center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</a:defRPr>
            </a:pPr>
            <a:r>
              <a:t>Operators can position Tasks Kanban boards, Run Log ledgers, and Gamified Leaderboards side-by-side. 100% editable even offline.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4206240"/>
            <a:ext cx="5029200" cy="1920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38BDF8"/>
                </a:solidFill>
              </a:defRPr>
            </a:pPr>
            <a:r>
              <a:t>💡 100% Turn-Off Test Compliant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</a:defRPr>
            </a:pPr>
            <a:r>
              <a:t>If our Python daemon stops, the full AI reasoning chain, cognitive panels, formulas, and audit trail remain completely legible inside Notion.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206240"/>
            <a:ext cx="5029200" cy="19202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38BDF8"/>
                </a:solidFill>
              </a:defRPr>
            </a:pPr>
            <a:r>
              <a:t>⚡ Programmable Visual Workflows</a:t>
            </a:r>
          </a:p>
          <a:p>
            <a:pPr>
              <a:spcBef>
                <a:spcPts val="800"/>
              </a:spcBef>
              <a:defRPr sz="1300">
                <a:solidFill>
                  <a:srgbClr val="94A3B8"/>
                </a:solidFill>
              </a:defRPr>
            </a:pPr>
            <a:r>
              <a:t>Pipeline automation matrix defined as database rows with multi-select steps. Zero lines of JavaScript required to build workflows.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8FAFC"/>
                </a:solidFill>
              </a:defRPr>
            </a:pPr>
            <a:r>
              <a:t>Industrial Architecture &amp; Security Pillars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011680"/>
            <a:ext cx="3291840" cy="1828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8FAFC"/>
                </a:solidFill>
              </a:defRPr>
            </a:pPr>
            <a:r>
              <a:t>🛡️ Token-Bucket Rate Limiter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Guarantees writes stay under 2/sec to Notion API limits, smoothing burst loads.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80560" y="2011680"/>
            <a:ext cx="3291840" cy="1828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8FAFC"/>
                </a:solidFill>
              </a:defRPr>
            </a:pPr>
            <a:r>
              <a:t>🔄 OCC 3-Way Merge Guard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Optimistic Concurrency Control eliminates overwrites during concurrent approvals.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2011680"/>
            <a:ext cx="3291840" cy="1828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8FAFC"/>
                </a:solidFill>
              </a:defRPr>
            </a:pPr>
            <a:r>
              <a:t>🔐 Biometric Mesh &amp; SMS OTP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Requires live facial match or OTP for CRITICAL / HIGH risk operations.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114800"/>
            <a:ext cx="3291840" cy="1828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8FAFC"/>
                </a:solidFill>
              </a:defRPr>
            </a:pPr>
            <a:r>
              <a:t>📊 SHA-256 Non-Repudiation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Chained cryptographic audit ledger with genesis hash verification.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4114800"/>
            <a:ext cx="3291840" cy="1828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8FAFC"/>
                </a:solidFill>
              </a:defRPr>
            </a:pPr>
            <a:r>
              <a:t>🌐 6-Language Localization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Typesets Notion blocks dynamically in EN, ES, DE, JA, HI, and FR.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4114800"/>
            <a:ext cx="3291840" cy="182880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500" b="1">
                <a:solidFill>
                  <a:srgbClr val="F8FAFC"/>
                </a:solidFill>
              </a:defRPr>
            </a:pPr>
            <a:r>
              <a:t>🔥 Gamified Operator Streaks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Notion formulas calculate streak flames (🔥 X Days), badges, and levels.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solidFill>
              <a:srgbClr val="0B0F1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F8FAFC"/>
                </a:solidFill>
              </a:defRPr>
            </a:pPr>
            <a:r>
              <a:t>Mathematical Verification &amp; Live Test Results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2103120"/>
            <a:ext cx="2468880" cy="20116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10B981"/>
                </a:solidFill>
              </a:defRPr>
            </a:pPr>
            <a:r>
              <a:t>11 / 11</a:t>
            </a:r>
          </a:p>
          <a:p>
            <a:pPr algn="ctr">
              <a:spcBef>
                <a:spcPts val="800"/>
              </a:spcBef>
              <a:defRPr sz="1300">
                <a:solidFill>
                  <a:srgbClr val="94A3B8"/>
                </a:solidFill>
              </a:defRPr>
            </a:pPr>
            <a:r>
              <a:t>Passing Unit Tests (100% Success)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66160" y="2103120"/>
            <a:ext cx="2468880" cy="20116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38BDF8"/>
                </a:solidFill>
              </a:defRPr>
            </a:pPr>
            <a:r>
              <a:t>129 / 129</a:t>
            </a:r>
          </a:p>
          <a:p>
            <a:pPr algn="ctr">
              <a:spcBef>
                <a:spcPts val="800"/>
              </a:spcBef>
              <a:defRPr sz="1300">
                <a:solidFill>
                  <a:srgbClr val="94A3B8"/>
                </a:solidFill>
              </a:defRPr>
            </a:pPr>
            <a:r>
              <a:t>Verified SHA-256 Ledger Signatures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103120"/>
            <a:ext cx="2468880" cy="20116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F59E0B"/>
                </a:solidFill>
              </a:defRPr>
            </a:pPr>
            <a:r>
              <a:t>0 Mismatches</a:t>
            </a:r>
          </a:p>
          <a:p>
            <a:pPr algn="ctr">
              <a:spcBef>
                <a:spcPts val="800"/>
              </a:spcBef>
              <a:defRPr sz="1300">
                <a:solidFill>
                  <a:srgbClr val="94A3B8"/>
                </a:solidFill>
              </a:defRPr>
            </a:pPr>
            <a:r>
              <a:t>Zero Concurrency Conflicts Detected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69680" y="2103120"/>
            <a:ext cx="2468880" cy="201168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800" b="1">
                <a:solidFill>
                  <a:srgbClr val="6366F1"/>
                </a:solidFill>
              </a:defRPr>
            </a:pPr>
            <a:r>
              <a:t>≤ 2 Writes/s</a:t>
            </a:r>
          </a:p>
          <a:p>
            <a:pPr algn="ctr">
              <a:spcBef>
                <a:spcPts val="800"/>
              </a:spcBef>
              <a:defRPr sz="1300">
                <a:solidFill>
                  <a:srgbClr val="94A3B8"/>
                </a:solidFill>
              </a:defRPr>
            </a:pPr>
            <a:r>
              <a:t>Guaranteed Notion Token-Bucket Rate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480560"/>
            <a:ext cx="10362895" cy="1645920"/>
          </a:xfrm>
          <a:prstGeom prst="roundRect">
            <a:avLst/>
          </a:prstGeom>
          <a:solidFill>
            <a:srgbClr val="1E293B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0B981"/>
                </a:solidFill>
              </a:defRPr>
            </a:pPr>
            <a:r>
              <a:t>🏆 Conclusion: The Ultimate Production-Grade Solution</a:t>
            </a:r>
          </a:p>
          <a:p>
            <a:pPr>
              <a:spcBef>
                <a:spcPts val="800"/>
              </a:spcBef>
              <a:defRPr sz="1400">
                <a:solidFill>
                  <a:srgbClr val="F8FAFC"/>
                </a:solidFill>
              </a:defRPr>
            </a:pPr>
            <a:r>
              <a:t>Notion Tracker fuses cognitive LangChain reasoning, cryptographic zero-trust guarantees, and Notion's multi-million dollar native UX into an invincible, battle-tested platform ready for enterprise deployment today.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